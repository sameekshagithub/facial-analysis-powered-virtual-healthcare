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changesInfos/changesInfo1.xml" ContentType="application/vnd.ms-powerpoint.changesinfo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7" r:id="rId4"/>
  </p:sldMasterIdLst>
  <p:notesMasterIdLst>
    <p:notesMasterId r:id="rId22"/>
  </p:notesMasterIdLst>
  <p:handoutMasterIdLst>
    <p:handoutMasterId r:id="rId23"/>
  </p:handoutMasterIdLst>
  <p:sldIdLst>
    <p:sldId id="325" r:id="rId5"/>
    <p:sldId id="343" r:id="rId6"/>
    <p:sldId id="329" r:id="rId7"/>
    <p:sldId id="340" r:id="rId8"/>
    <p:sldId id="358" r:id="rId9"/>
    <p:sldId id="330" r:id="rId10"/>
    <p:sldId id="341" r:id="rId11"/>
    <p:sldId id="359" r:id="rId12"/>
    <p:sldId id="346" r:id="rId13"/>
    <p:sldId id="347" r:id="rId14"/>
    <p:sldId id="348" r:id="rId15"/>
    <p:sldId id="349" r:id="rId16"/>
    <p:sldId id="354" r:id="rId17"/>
    <p:sldId id="350" r:id="rId18"/>
    <p:sldId id="352" r:id="rId19"/>
    <p:sldId id="355" r:id="rId20"/>
    <p:sldId id="34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843683-EBD8-468C-A2D5-34BFB9224116}" v="4" dt="2025-04-26T08:06:55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7712" autoAdjust="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eksha Rai" userId="107fb7a78774dcf2" providerId="LiveId" clId="{59843683-EBD8-468C-A2D5-34BFB9224116}"/>
    <pc:docChg chg="delSld modSld">
      <pc:chgData name="Sameeksha Rai" userId="107fb7a78774dcf2" providerId="LiveId" clId="{59843683-EBD8-468C-A2D5-34BFB9224116}" dt="2025-04-26T08:12:05.344" v="26" actId="2696"/>
      <pc:docMkLst>
        <pc:docMk/>
      </pc:docMkLst>
      <pc:sldChg chg="del">
        <pc:chgData name="Sameeksha Rai" userId="107fb7a78774dcf2" providerId="LiveId" clId="{59843683-EBD8-468C-A2D5-34BFB9224116}" dt="2025-04-26T08:12:05.344" v="26" actId="2696"/>
        <pc:sldMkLst>
          <pc:docMk/>
          <pc:sldMk cId="1973995180" sldId="342"/>
        </pc:sldMkLst>
      </pc:sldChg>
      <pc:sldChg chg="modSp mod">
        <pc:chgData name="Sameeksha Rai" userId="107fb7a78774dcf2" providerId="LiveId" clId="{59843683-EBD8-468C-A2D5-34BFB9224116}" dt="2025-04-26T08:07:33.011" v="25" actId="20577"/>
        <pc:sldMkLst>
          <pc:docMk/>
          <pc:sldMk cId="2572902850" sldId="358"/>
        </pc:sldMkLst>
        <pc:graphicFrameChg chg="mod modGraphic">
          <ac:chgData name="Sameeksha Rai" userId="107fb7a78774dcf2" providerId="LiveId" clId="{59843683-EBD8-468C-A2D5-34BFB9224116}" dt="2025-04-26T08:07:33.011" v="25" actId="20577"/>
          <ac:graphicFrameMkLst>
            <pc:docMk/>
            <pc:sldMk cId="2572902850" sldId="358"/>
            <ac:graphicFrameMk id="4" creationId="{00000000-0000-0000-0000-000000000000}"/>
          </ac:graphicFrameMkLst>
        </pc:graphicFrameChg>
      </pc:sldChg>
    </pc:docChg>
  </pc:docChgLst>
  <pc:docChgLst>
    <pc:chgData name="Sameeksha Rai" userId="107fb7a78774dcf2" providerId="LiveId" clId="{5F351031-83CE-4F6A-BA6C-513027D967CD}"/>
    <pc:docChg chg="addSld modSld">
      <pc:chgData name="Sameeksha Rai" userId="107fb7a78774dcf2" providerId="LiveId" clId="{5F351031-83CE-4F6A-BA6C-513027D967CD}" dt="2025-04-24T05:57:47.828" v="58"/>
      <pc:docMkLst>
        <pc:docMk/>
      </pc:docMkLst>
      <pc:sldChg chg="modSp mod">
        <pc:chgData name="Sameeksha Rai" userId="107fb7a78774dcf2" providerId="LiveId" clId="{5F351031-83CE-4F6A-BA6C-513027D967CD}" dt="2025-04-24T05:56:21.290" v="54" actId="20577"/>
        <pc:sldMkLst>
          <pc:docMk/>
          <pc:sldMk cId="3953490230" sldId="343"/>
        </pc:sldMkLst>
        <pc:spChg chg="mod">
          <ac:chgData name="Sameeksha Rai" userId="107fb7a78774dcf2" providerId="LiveId" clId="{5F351031-83CE-4F6A-BA6C-513027D967CD}" dt="2025-04-24T05:56:21.290" v="54" actId="20577"/>
          <ac:spMkLst>
            <pc:docMk/>
            <pc:sldMk cId="3953490230" sldId="343"/>
            <ac:spMk id="7" creationId="{30A3E438-28B4-A992-BB76-D4E44376DF86}"/>
          </ac:spMkLst>
        </pc:spChg>
      </pc:sldChg>
      <pc:sldChg chg="addSp delSp modSp new mod">
        <pc:chgData name="Sameeksha Rai" userId="107fb7a78774dcf2" providerId="LiveId" clId="{5F351031-83CE-4F6A-BA6C-513027D967CD}" dt="2025-04-24T05:57:47.828" v="58"/>
        <pc:sldMkLst>
          <pc:docMk/>
          <pc:sldMk cId="2690407992" sldId="3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pPr/>
              <a:t>5/23/2025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pPr/>
              <a:t>5/23/2025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3611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911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487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0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94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50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984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96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96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258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84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69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3974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324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4974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271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55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84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51C745E-9B5A-59BF-BF50-4F251E39D58D}"/>
              </a:ext>
            </a:extLst>
          </p:cNvPr>
          <p:cNvSpPr/>
          <p:nvPr userDrawn="1"/>
        </p:nvSpPr>
        <p:spPr>
          <a:xfrm>
            <a:off x="304800" y="266701"/>
            <a:ext cx="11582400" cy="6324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F2B4A7EA-9E3F-9CE1-56B5-92F4FDDA69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4100" y="758952"/>
            <a:ext cx="7543800" cy="5029200"/>
          </a:xfrm>
          <a:custGeom>
            <a:avLst/>
            <a:gdLst>
              <a:gd name="connsiteX0" fmla="*/ 3567113 w 7543800"/>
              <a:gd name="connsiteY0" fmla="*/ 4869270 h 5029200"/>
              <a:gd name="connsiteX1" fmla="*/ 3567113 w 7543800"/>
              <a:gd name="connsiteY1" fmla="*/ 4957572 h 5029200"/>
              <a:gd name="connsiteX2" fmla="*/ 3976688 w 7543800"/>
              <a:gd name="connsiteY2" fmla="*/ 4957572 h 5029200"/>
              <a:gd name="connsiteX3" fmla="*/ 3976688 w 7543800"/>
              <a:gd name="connsiteY3" fmla="*/ 4869270 h 5029200"/>
              <a:gd name="connsiteX4" fmla="*/ 0 w 7543800"/>
              <a:gd name="connsiteY4" fmla="*/ 0 h 5029200"/>
              <a:gd name="connsiteX5" fmla="*/ 7543800 w 7543800"/>
              <a:gd name="connsiteY5" fmla="*/ 0 h 5029200"/>
              <a:gd name="connsiteX6" fmla="*/ 7543800 w 7543800"/>
              <a:gd name="connsiteY6" fmla="*/ 5029200 h 5029200"/>
              <a:gd name="connsiteX7" fmla="*/ 0 w 7543800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43800" h="5029200">
                <a:moveTo>
                  <a:pt x="3567113" y="4869270"/>
                </a:moveTo>
                <a:lnTo>
                  <a:pt x="3567113" y="4957572"/>
                </a:lnTo>
                <a:lnTo>
                  <a:pt x="3976688" y="4957572"/>
                </a:lnTo>
                <a:lnTo>
                  <a:pt x="3976688" y="4869270"/>
                </a:lnTo>
                <a:close/>
                <a:moveTo>
                  <a:pt x="0" y="0"/>
                </a:moveTo>
                <a:lnTo>
                  <a:pt x="7543800" y="0"/>
                </a:lnTo>
                <a:lnTo>
                  <a:pt x="7543800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8960"/>
            <a:ext cx="10515600" cy="640080"/>
          </a:xfrm>
        </p:spPr>
        <p:txBody>
          <a:bodyPr anchor="ctr"/>
          <a:lstStyle>
            <a:lvl1pPr algn="ctr">
              <a:defRPr sz="60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9F70834-CB8D-A95B-D859-6E5B4C6B4F78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0722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94B2501-78A9-E41B-7C2D-09F09ADDCB5E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BA0478E-A529-CF4E-CE5C-583ACA20D66C}"/>
              </a:ext>
            </a:extLst>
          </p:cNvPr>
          <p:cNvSpPr/>
          <p:nvPr userDrawn="1"/>
        </p:nvSpPr>
        <p:spPr>
          <a:xfrm>
            <a:off x="4462849" y="685800"/>
            <a:ext cx="7119551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24712"/>
            <a:ext cx="3886200" cy="548640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816352"/>
            <a:ext cx="3602736" cy="336499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000" cap="all" spc="0" baseline="0"/>
            </a:lvl1pPr>
            <a:lvl2pPr marL="228600">
              <a:defRPr spc="0" baseline="0"/>
            </a:lvl2pPr>
            <a:lvl3pPr marL="457200">
              <a:defRPr spc="0" baseline="0"/>
            </a:lvl3pPr>
            <a:lvl4pPr marL="685800">
              <a:defRPr spc="0" baseline="0"/>
            </a:lvl4pPr>
            <a:lvl5pPr marL="1143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6904" y="1188720"/>
            <a:ext cx="6638544" cy="448056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792E47F-4E2C-B4B2-51F0-43D9D15C5A60}"/>
              </a:ext>
            </a:extLst>
          </p:cNvPr>
          <p:cNvCxnSpPr>
            <a:cxnSpLocks/>
          </p:cNvCxnSpPr>
          <p:nvPr userDrawn="1"/>
        </p:nvCxnSpPr>
        <p:spPr>
          <a:xfrm>
            <a:off x="1295400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871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8C402F40-958A-D2BF-629C-39B659EC9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1999" cy="6858000"/>
          </a:xfrm>
          <a:custGeom>
            <a:avLst/>
            <a:gdLst>
              <a:gd name="connsiteX0" fmla="*/ 5890261 w 12191999"/>
              <a:gd name="connsiteY0" fmla="*/ 4496651 h 6858000"/>
              <a:gd name="connsiteX1" fmla="*/ 5890261 w 12191999"/>
              <a:gd name="connsiteY1" fmla="*/ 4584953 h 6858000"/>
              <a:gd name="connsiteX2" fmla="*/ 6299835 w 12191999"/>
              <a:gd name="connsiteY2" fmla="*/ 4584953 h 6858000"/>
              <a:gd name="connsiteX3" fmla="*/ 6299835 w 12191999"/>
              <a:gd name="connsiteY3" fmla="*/ 4496651 h 6858000"/>
              <a:gd name="connsiteX4" fmla="*/ 0 w 12191999"/>
              <a:gd name="connsiteY4" fmla="*/ 0 h 6858000"/>
              <a:gd name="connsiteX5" fmla="*/ 12191999 w 12191999"/>
              <a:gd name="connsiteY5" fmla="*/ 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5890261" y="4496651"/>
                </a:moveTo>
                <a:lnTo>
                  <a:pt x="5890261" y="4584953"/>
                </a:lnTo>
                <a:lnTo>
                  <a:pt x="6299835" y="4584953"/>
                </a:lnTo>
                <a:lnTo>
                  <a:pt x="6299835" y="4496651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xmlns="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715" y="1485302"/>
            <a:ext cx="9120570" cy="3887396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bIns="1097280" anchor="b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612648"/>
            <a:ext cx="2286000" cy="228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5751576"/>
            <a:ext cx="9116568" cy="722376"/>
          </a:xfrm>
        </p:spPr>
        <p:txBody>
          <a:bodyPr anchor="ctr"/>
          <a:lstStyle>
            <a:lvl1pPr marL="0" indent="0" algn="ctr">
              <a:buNone/>
              <a:defRPr sz="20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469017C4-5BB0-DF6F-781B-FB81A3A5D977}"/>
              </a:ext>
            </a:extLst>
          </p:cNvPr>
          <p:cNvSpPr/>
          <p:nvPr userDrawn="1"/>
        </p:nvSpPr>
        <p:spPr>
          <a:xfrm>
            <a:off x="5890260" y="449665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9443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BA0478E-A529-CF4E-CE5C-583ACA20D66C}"/>
              </a:ext>
            </a:extLst>
          </p:cNvPr>
          <p:cNvSpPr/>
          <p:nvPr userDrawn="1"/>
        </p:nvSpPr>
        <p:spPr>
          <a:xfrm>
            <a:off x="3578352" y="0"/>
            <a:ext cx="86136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824" y="1124712"/>
            <a:ext cx="5760720" cy="548640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824" y="2889504"/>
            <a:ext cx="5760720" cy="331927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000" cap="none" spc="0" baseline="0"/>
            </a:lvl1pPr>
            <a:lvl2pPr marL="228600">
              <a:defRPr spc="0" baseline="0"/>
            </a:lvl2pPr>
            <a:lvl3pPr marL="457200">
              <a:defRPr spc="0" baseline="0"/>
            </a:lvl3pPr>
            <a:lvl4pPr marL="685800">
              <a:defRPr spc="0" baseline="0"/>
            </a:lvl4pPr>
            <a:lvl5pPr marL="1143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F036BAAC-D89F-682D-12A3-1C31F92F0FAF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6F877625-E710-6DF2-3E49-374C6DD8DBC0}"/>
              </a:ext>
            </a:extLst>
          </p:cNvPr>
          <p:cNvCxnSpPr>
            <a:cxnSpLocks/>
          </p:cNvCxnSpPr>
          <p:nvPr userDrawn="1"/>
        </p:nvCxnSpPr>
        <p:spPr>
          <a:xfrm>
            <a:off x="5447344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72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it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ED0AC02C-19A4-4754-CC96-34357DEFF5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7048" y="1481328"/>
            <a:ext cx="9144000" cy="3886200"/>
          </a:xfrm>
          <a:custGeom>
            <a:avLst/>
            <a:gdLst>
              <a:gd name="connsiteX0" fmla="*/ 6521576 w 9144000"/>
              <a:gd name="connsiteY0" fmla="*/ 2811867 h 3886200"/>
              <a:gd name="connsiteX1" fmla="*/ 6521576 w 9144000"/>
              <a:gd name="connsiteY1" fmla="*/ 2900169 h 3886200"/>
              <a:gd name="connsiteX2" fmla="*/ 6931151 w 9144000"/>
              <a:gd name="connsiteY2" fmla="*/ 2900169 h 3886200"/>
              <a:gd name="connsiteX3" fmla="*/ 6931151 w 9144000"/>
              <a:gd name="connsiteY3" fmla="*/ 2811867 h 3886200"/>
              <a:gd name="connsiteX4" fmla="*/ 0 w 9144000"/>
              <a:gd name="connsiteY4" fmla="*/ 0 h 3886200"/>
              <a:gd name="connsiteX5" fmla="*/ 9144000 w 9144000"/>
              <a:gd name="connsiteY5" fmla="*/ 0 h 3886200"/>
              <a:gd name="connsiteX6" fmla="*/ 9144000 w 9144000"/>
              <a:gd name="connsiteY6" fmla="*/ 3886200 h 3886200"/>
              <a:gd name="connsiteX7" fmla="*/ 0 w 9144000"/>
              <a:gd name="connsiteY7" fmla="*/ 388620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3886200">
                <a:moveTo>
                  <a:pt x="6521576" y="2811867"/>
                </a:moveTo>
                <a:lnTo>
                  <a:pt x="6521576" y="2900169"/>
                </a:lnTo>
                <a:lnTo>
                  <a:pt x="6931151" y="2900169"/>
                </a:lnTo>
                <a:lnTo>
                  <a:pt x="6931151" y="2811867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3886200"/>
                </a:lnTo>
                <a:lnTo>
                  <a:pt x="0" y="3886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636" y="3200400"/>
            <a:ext cx="8110728" cy="457200"/>
          </a:xfrm>
        </p:spPr>
        <p:txBody>
          <a:bodyPr anchor="ctr"/>
          <a:lstStyle>
            <a:lvl1pPr algn="ctr">
              <a:defRPr sz="48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0" y="4745736"/>
            <a:ext cx="1389888" cy="1280160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2E7004C-CFEF-6E88-A3C1-60FBC7F8CD13}"/>
              </a:ext>
            </a:extLst>
          </p:cNvPr>
          <p:cNvSpPr/>
          <p:nvPr userDrawn="1"/>
        </p:nvSpPr>
        <p:spPr>
          <a:xfrm>
            <a:off x="8048624" y="4293195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B7811310-A21F-0BFB-8198-22EDFCF9F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70576" y="658368"/>
            <a:ext cx="6821424" cy="334670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A73D2EFC-F14F-5508-06EE-4E5B5C535E16}"/>
              </a:ext>
            </a:extLst>
          </p:cNvPr>
          <p:cNvCxnSpPr>
            <a:cxnSpLocks/>
          </p:cNvCxnSpPr>
          <p:nvPr userDrawn="1"/>
        </p:nvCxnSpPr>
        <p:spPr>
          <a:xfrm>
            <a:off x="1819102" y="554884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28A6ACFB-D620-056D-1C62-903C5FBCE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9656" y="5943600"/>
            <a:ext cx="4809744" cy="256032"/>
          </a:xfrm>
        </p:spPr>
        <p:txBody>
          <a:bodyPr/>
          <a:lstStyle>
            <a:lvl1pPr marL="0" indent="0" algn="l">
              <a:buNone/>
              <a:defRPr sz="2000" cap="all" spc="200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656" y="2459736"/>
            <a:ext cx="5157216" cy="2670048"/>
          </a:xfrm>
        </p:spPr>
        <p:txBody>
          <a:bodyPr anchor="b"/>
          <a:lstStyle>
            <a:lvl1pPr algn="l">
              <a:lnSpc>
                <a:spcPts val="5200"/>
              </a:lnSpc>
              <a:defRPr sz="360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181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021824" cy="53949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xmlns="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8448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xmlns="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6200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xmlns="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73952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xmlns="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34272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xmlns="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xmlns="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xmlns="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xmlns="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xmlns="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73952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73952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70848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xmlns="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70848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B6E73E07-0346-2BA8-44BC-6CB3BDEAAA99}"/>
              </a:ext>
            </a:extLst>
          </p:cNvPr>
          <p:cNvCxnSpPr>
            <a:cxnSpLocks/>
          </p:cNvCxnSpPr>
          <p:nvPr userDrawn="1"/>
        </p:nvCxnSpPr>
        <p:spPr>
          <a:xfrm>
            <a:off x="45924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56E62977-27C7-5882-6A33-75257911D09A}"/>
              </a:ext>
            </a:extLst>
          </p:cNvPr>
          <p:cNvCxnSpPr>
            <a:cxnSpLocks/>
          </p:cNvCxnSpPr>
          <p:nvPr userDrawn="1"/>
        </p:nvCxnSpPr>
        <p:spPr>
          <a:xfrm>
            <a:off x="2004720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E705476C-2972-A423-7282-BABA9AAB32E6}"/>
              </a:ext>
            </a:extLst>
          </p:cNvPr>
          <p:cNvCxnSpPr>
            <a:cxnSpLocks/>
          </p:cNvCxnSpPr>
          <p:nvPr userDrawn="1"/>
        </p:nvCxnSpPr>
        <p:spPr>
          <a:xfrm>
            <a:off x="9737699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DE0D781B-3CB4-A523-427F-3D444B28E60E}"/>
              </a:ext>
            </a:extLst>
          </p:cNvPr>
          <p:cNvCxnSpPr>
            <a:cxnSpLocks/>
          </p:cNvCxnSpPr>
          <p:nvPr userDrawn="1"/>
        </p:nvCxnSpPr>
        <p:spPr>
          <a:xfrm>
            <a:off x="71832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0483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332720" cy="53949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xmlns="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36776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xmlns="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4528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xmlns="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8856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xmlns="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81744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xmlns="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xmlns="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xmlns="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xmlns="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xmlns="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10528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10528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34272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xmlns="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34272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4684061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2096160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983798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730623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xmlns="" id="{09A756E1-5275-58A9-7B09-95BEA4F4F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636776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xmlns="" id="{A4DA2F88-85BF-29B8-6321-AF19B25A626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24528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xmlns="" id="{4636CEF4-05E9-F5BB-BD6F-6B081DBDCA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8856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xmlns="" id="{67B57C06-A1D0-7C74-6A14-2BFF0B1FC17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81744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xmlns="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98448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xmlns="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98448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xmlns="" id="{697C28E5-6260-6DA9-B4F0-665506F525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86200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xmlns="" id="{A594A25E-7F2D-4188-16B7-C34485FDD2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86200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xmlns="" id="{584B38BF-6197-486D-7134-F86E1754AF7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10528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xmlns="" id="{D788F8D9-8CDB-C458-9AAD-0426AB467D2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10528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xmlns="" id="{78447882-2C86-B3A7-9450-29A0778E1B0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034272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xmlns="" id="{E321AAE1-532A-23F0-9108-055D0D7BDFB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34272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11BC4478-FBEA-422F-73BA-0A422F15D7EA}"/>
              </a:ext>
            </a:extLst>
          </p:cNvPr>
          <p:cNvCxnSpPr>
            <a:cxnSpLocks/>
          </p:cNvCxnSpPr>
          <p:nvPr userDrawn="1"/>
        </p:nvCxnSpPr>
        <p:spPr>
          <a:xfrm>
            <a:off x="4684061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2096160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A9C9F7A3-B120-C59A-E379-173F84B7D153}"/>
              </a:ext>
            </a:extLst>
          </p:cNvPr>
          <p:cNvCxnSpPr>
            <a:cxnSpLocks/>
          </p:cNvCxnSpPr>
          <p:nvPr userDrawn="1"/>
        </p:nvCxnSpPr>
        <p:spPr>
          <a:xfrm>
            <a:off x="983798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xmlns="" id="{E073A4E7-9D16-A6C0-E297-A36B10A2FABB}"/>
              </a:ext>
            </a:extLst>
          </p:cNvPr>
          <p:cNvCxnSpPr>
            <a:cxnSpLocks/>
          </p:cNvCxnSpPr>
          <p:nvPr userDrawn="1"/>
        </p:nvCxnSpPr>
        <p:spPr>
          <a:xfrm>
            <a:off x="730623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7771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5175504"/>
            <a:ext cx="12188952" cy="16824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88" y="609600"/>
            <a:ext cx="10021824" cy="1252728"/>
          </a:xfrm>
        </p:spPr>
        <p:txBody>
          <a:bodyPr/>
          <a:lstStyle>
            <a:lvl1pPr algn="ctr">
              <a:lnSpc>
                <a:spcPts val="576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xmlns="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xmlns="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xmlns="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83280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xmlns="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83280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xmlns="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68112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468112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2944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xmlns="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52944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3383280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9637776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7552944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5468112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3">
            <a:extLst>
              <a:ext uri="{FF2B5EF4-FFF2-40B4-BE49-F238E27FC236}">
                <a16:creationId xmlns:a16="http://schemas.microsoft.com/office/drawing/2014/main" xmlns="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37776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xmlns="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37776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1298448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1061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88952" cy="16824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5221224"/>
            <a:ext cx="3621024" cy="621792"/>
          </a:xfrm>
        </p:spPr>
        <p:txBody>
          <a:bodyPr/>
          <a:lstStyle>
            <a:lvl1pPr algn="l">
              <a:lnSpc>
                <a:spcPts val="576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xmlns="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xmlns="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00984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xmlns="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12664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xmlns="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15200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xmlns="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21800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73769F54-E10C-40C4-5EFF-E8A9CA520AEC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46E7B1EF-9D07-1E66-7467-93C9AE48BD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9200" y="2871216"/>
            <a:ext cx="9595104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xmlns="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xmlns="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0984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12664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xmlns="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15200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xmlns="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21800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75476138-49FF-70BE-6359-0A511EFB24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00984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xmlns="" id="{46EFC43B-3F8D-6957-F343-F3D9C3E7A7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8448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xmlns="" id="{D6007DD2-0F2E-6F92-8457-FC670750ED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12664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xmlns="" id="{06C5667F-C463-51B6-B8D6-F757BDB8AF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15200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xmlns="" id="{0FF09CBB-BD48-E8E5-EECF-B6CBC36B236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21800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337835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A881D2A-2C75-8B2A-DA41-F42ABBA59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56832" cy="6858000"/>
          </a:xfrm>
          <a:custGeom>
            <a:avLst/>
            <a:gdLst>
              <a:gd name="connsiteX0" fmla="*/ 1295400 w 6656832"/>
              <a:gd name="connsiteY0" fmla="*/ 1492377 h 6858000"/>
              <a:gd name="connsiteX1" fmla="*/ 1295400 w 6656832"/>
              <a:gd name="connsiteY1" fmla="*/ 1580679 h 6858000"/>
              <a:gd name="connsiteX2" fmla="*/ 1704975 w 6656832"/>
              <a:gd name="connsiteY2" fmla="*/ 1580679 h 6858000"/>
              <a:gd name="connsiteX3" fmla="*/ 1704975 w 6656832"/>
              <a:gd name="connsiteY3" fmla="*/ 1492377 h 6858000"/>
              <a:gd name="connsiteX4" fmla="*/ 0 w 6656832"/>
              <a:gd name="connsiteY4" fmla="*/ 0 h 6858000"/>
              <a:gd name="connsiteX5" fmla="*/ 6656832 w 6656832"/>
              <a:gd name="connsiteY5" fmla="*/ 0 h 6858000"/>
              <a:gd name="connsiteX6" fmla="*/ 6656832 w 6656832"/>
              <a:gd name="connsiteY6" fmla="*/ 6858000 h 6858000"/>
              <a:gd name="connsiteX7" fmla="*/ 0 w 665683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56832" h="6858000">
                <a:moveTo>
                  <a:pt x="1295400" y="1492377"/>
                </a:moveTo>
                <a:lnTo>
                  <a:pt x="1295400" y="1580679"/>
                </a:lnTo>
                <a:lnTo>
                  <a:pt x="1704975" y="1580679"/>
                </a:lnTo>
                <a:lnTo>
                  <a:pt x="1704975" y="1492377"/>
                </a:lnTo>
                <a:close/>
                <a:moveTo>
                  <a:pt x="0" y="0"/>
                </a:moveTo>
                <a:lnTo>
                  <a:pt x="6656832" y="0"/>
                </a:lnTo>
                <a:lnTo>
                  <a:pt x="665683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609600"/>
            <a:ext cx="6656832" cy="530352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xmlns="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8448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anchor="t">
            <a:noAutofit/>
          </a:bodyPr>
          <a:lstStyle>
            <a:lvl1pPr marL="0" indent="0">
              <a:lnSpc>
                <a:spcPts val="240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8488" y="3630168"/>
            <a:ext cx="3886200" cy="2514600"/>
          </a:xfrm>
        </p:spPr>
        <p:txBody>
          <a:bodyPr/>
          <a:lstStyle>
            <a:lvl1pPr marL="0" indent="0">
              <a:buNone/>
              <a:defRPr sz="1400"/>
            </a:lvl1pPr>
            <a:lvl2pPr marL="228600">
              <a:defRPr sz="1400"/>
            </a:lvl2pPr>
            <a:lvl3pPr marL="457200">
              <a:defRPr sz="1400"/>
            </a:lvl3pPr>
            <a:lvl4pPr marL="685800">
              <a:defRPr sz="1400"/>
            </a:lvl4pPr>
            <a:lvl5pPr marL="11430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xmlns="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05600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anchor="t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13448" y="3630168"/>
            <a:ext cx="3886200" cy="2514600"/>
          </a:xfrm>
        </p:spPr>
        <p:txBody>
          <a:bodyPr/>
          <a:lstStyle>
            <a:lvl1pPr marL="0" indent="0">
              <a:buNone/>
              <a:defRPr sz="1400"/>
            </a:lvl1pPr>
            <a:lvl2pPr marL="228600">
              <a:defRPr sz="1400"/>
            </a:lvl2pPr>
            <a:lvl3pPr marL="457200">
              <a:defRPr sz="1400"/>
            </a:lvl3pPr>
            <a:lvl4pPr marL="685800">
              <a:defRPr sz="1400"/>
            </a:lvl4pPr>
            <a:lvl5pPr marL="11430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D5896335-CC4F-4D72-23F0-F7FBFA640021}"/>
              </a:ext>
            </a:extLst>
          </p:cNvPr>
          <p:cNvSpPr/>
          <p:nvPr userDrawn="1"/>
        </p:nvSpPr>
        <p:spPr>
          <a:xfrm>
            <a:off x="1295400" y="1492377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z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B9EF4E7-F4EF-FFCD-9B0C-961E519F6DDD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014216"/>
            <a:ext cx="4160520" cy="18288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xmlns="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8080" y="621792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8080" y="1069848"/>
            <a:ext cx="3886200" cy="15270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xmlns="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98080" y="3172968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98080" y="3621024"/>
            <a:ext cx="3886200" cy="11795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xmlns="" id="{AD6DBECB-0E53-C186-A485-96A8FC1252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98448" y="612648"/>
            <a:ext cx="3200400" cy="3200400"/>
          </a:xfrm>
          <a:prstGeom prst="ellipse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xmlns="" id="{F0B28D44-29B3-3396-973D-82E361161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98080" y="5129784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xmlns="" id="{C06156AC-1153-3958-CFE6-6CDCC21C38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8080" y="5568696"/>
            <a:ext cx="3886200" cy="905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A4CE90CA-176B-1E45-FECF-0290B1DCF55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45352" y="704088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xmlns="" id="{365BC287-99EE-D6FA-48B9-1E6FFE9357E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45352" y="3273552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xmlns="" id="{ECE7A377-A1E6-77DF-79F9-F251BD7577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5352" y="5166360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52D976B1-BEF2-CB69-E97E-A6DAD1F04689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1164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9358819-7D9B-11CB-DBC5-CC8BC5C07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2EB2EEB-FE70-98B2-9437-0E1E91F9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DFAA902D-BDC9-E5AF-D40D-7B8DE616EBE0}"/>
              </a:ext>
            </a:extLst>
          </p:cNvPr>
          <p:cNvCxnSpPr>
            <a:cxnSpLocks/>
          </p:cNvCxnSpPr>
          <p:nvPr userDrawn="1"/>
        </p:nvCxnSpPr>
        <p:spPr>
          <a:xfrm>
            <a:off x="5890260" y="153619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92A4017E-4CAA-8499-38AE-3A3306A7EB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4640" y="2057400"/>
            <a:ext cx="6519672" cy="2971800"/>
          </a:xfrm>
          <a:solidFill>
            <a:schemeClr val="accent4"/>
          </a:solidFill>
        </p:spPr>
        <p:txBody>
          <a:bodyPr lIns="576072" tIns="228600" rIns="576072" bIns="228600" anchor="ctr"/>
          <a:lstStyle>
            <a:lvl1pPr marL="0" indent="0" algn="ctr">
              <a:lnSpc>
                <a:spcPts val="2460"/>
              </a:lnSpc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E9103CB5-F9EF-D6DA-A5D4-DCCAEBEBE6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71216" y="5330952"/>
            <a:ext cx="6519672" cy="152704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17F00C-8F19-CB9F-D5BF-9A5F4C77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324" y="609600"/>
            <a:ext cx="3959352" cy="53035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626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C0A131BE-DFE5-28BE-2AF8-50ADF9AFDB94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8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662" r:id="rId20"/>
    <p:sldLayoutId id="2147483663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53" r:id="rId27"/>
    <p:sldLayoutId id="2147483671" r:id="rId28"/>
    <p:sldLayoutId id="2147483672" r:id="rId2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138" y="2349177"/>
            <a:ext cx="10537723" cy="2035278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  <a:b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FACIAL ANALYSIS POWERED VIRTUAL HEALTHCARE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8E87967-1652-EA1F-D9B3-91B5531BCA5C}"/>
              </a:ext>
            </a:extLst>
          </p:cNvPr>
          <p:cNvSpPr txBox="1"/>
          <p:nvPr/>
        </p:nvSpPr>
        <p:spPr>
          <a:xfrm>
            <a:off x="7777317" y="4454013"/>
            <a:ext cx="36674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Sameeksha-4VP21CS086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Swasthika Rai B S-4VP21CS105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Thanmayee J-4VP21CS106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Pooja A-4VP22CS406</a:t>
            </a:r>
          </a:p>
          <a:p>
            <a:r>
              <a:rPr lang="en-IN" dirty="0"/>
              <a:t>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BB3A340-F3C0-D008-D94D-2208E09A5C7D}"/>
              </a:ext>
            </a:extLst>
          </p:cNvPr>
          <p:cNvSpPr txBox="1"/>
          <p:nvPr/>
        </p:nvSpPr>
        <p:spPr>
          <a:xfrm>
            <a:off x="1111045" y="4975123"/>
            <a:ext cx="2300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Thapaswini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25C40D0-87C9-6ADB-8796-EA1EB5483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937" y="394697"/>
            <a:ext cx="1505027" cy="105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08E47D-CB3C-3487-236D-D038E3EE1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F1EAD20-D343-2F42-F035-B5449EED5B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7816" y="6325842"/>
            <a:ext cx="683339" cy="365125"/>
          </a:xfrm>
        </p:spPr>
        <p:txBody>
          <a:bodyPr/>
          <a:lstStyle/>
          <a:p>
            <a:fld id="{75DF2D63-3FF5-D547-96B9-BE9CCD1ABA58}" type="slidenum">
              <a:rPr lang="en-US" sz="1000" smtClean="0">
                <a:solidFill>
                  <a:schemeClr val="tx1"/>
                </a:solidFill>
              </a:rPr>
              <a:pPr/>
              <a:t>2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0A3E438-28B4-A992-BB76-D4E44376DF86}"/>
              </a:ext>
            </a:extLst>
          </p:cNvPr>
          <p:cNvSpPr txBox="1"/>
          <p:nvPr/>
        </p:nvSpPr>
        <p:spPr>
          <a:xfrm>
            <a:off x="1617927" y="1553739"/>
            <a:ext cx="6624735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1.INTRODUCTION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2.PROBLEM STATEMENTS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3.LITERATURE SURVEY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4.OBJECTIVES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5.METHODOLOGY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6.IMPLEMENTATION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7.OUTCOMES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8.SNAPSHOTS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9.CONCLUSION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10.REFERENCES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BE1DE72-36F1-C64B-47FB-9F73BD4F2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973" y="-2458"/>
            <a:ext cx="1505027" cy="105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9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79856F-92A5-9936-EAA5-B01FC81B4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24465"/>
            <a:ext cx="10058400" cy="688258"/>
          </a:xfrm>
        </p:spPr>
        <p:txBody>
          <a:bodyPr>
            <a:norm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77824" y="1464192"/>
            <a:ext cx="6419895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Facial recognition technology is used to detect emotions and track mental well-being.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Subtle facial changes help identify early signs of any specified mental health issues.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 adds real-time, empathetic interaction for users.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makes healthcare more accessible, personalized, and timely.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B34DDCD-707A-A5D7-B2C6-B463856C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342" y="6376642"/>
            <a:ext cx="683339" cy="365125"/>
          </a:xfrm>
        </p:spPr>
        <p:txBody>
          <a:bodyPr/>
          <a:lstStyle/>
          <a:p>
            <a:r>
              <a:rPr lang="en-US" sz="1000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136A023-5E8B-1D08-D749-F17282C5A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6973" y="28446"/>
            <a:ext cx="1505027" cy="1054154"/>
          </a:xfrm>
          <a:prstGeom prst="rect">
            <a:avLst/>
          </a:prstGeom>
        </p:spPr>
      </p:pic>
      <p:sp>
        <p:nvSpPr>
          <p:cNvPr id="8194" name="AutoShape 2" descr="C:\Users\Priya\Downloads\DALL%C2%B7E 2025-02-24 09.57.29 - A high-tech, futuristic smart shopping trolley with glowing blue LED lights, a sleek metallic design, and a digital touchscreen display, autonomously 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6" name="AutoShape 4" descr="C:\Users\Priya\Downloads\DALL%C2%B7E 2025-02-24 09.57.29 - A high-tech, futuristic smart shopping trolley with glowing blue LED lights, a sleek metallic design, and a digital touchscreen display, autonomously 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9" name="AutoShape 7" descr="C:\Users\Priya\Downloads\DALL%C2%B7E 2025-02-24 09.57.29 - A high-tech, futuristic smart shopping trolley with glowing blue LED lights, a sleek metallic design, and a digital touchscreen display, autonomously 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3" descr="Personalized Care Continuum -Medical &amp; Digital Health Services |Bridge  Healt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321" y="1951396"/>
            <a:ext cx="4404360" cy="294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87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B0BAF9-B9B4-C6B9-B73B-B5C89307C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522513"/>
            <a:ext cx="9829800" cy="805543"/>
          </a:xfrm>
        </p:spPr>
        <p:txBody>
          <a:bodyPr/>
          <a:lstStyle/>
          <a:p>
            <a:pPr algn="ctr"/>
            <a:r>
              <a:rPr lang="en-IN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CD3682-0893-ECFC-A923-6C2F85DBD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486" y="1768046"/>
            <a:ext cx="10395858" cy="425175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"To design and implement a model that predicts depression based on facial expressions and speech recognition, complemented by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maintaining virtual healthcare support."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368B32-379E-B069-E261-1EAF2957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2263" y="6277228"/>
            <a:ext cx="683339" cy="365125"/>
          </a:xfrm>
        </p:spPr>
        <p:txBody>
          <a:bodyPr/>
          <a:lstStyle/>
          <a:p>
            <a:fld id="{75DF2D63-3FF5-D547-96B9-BE9CCD1ABA58}" type="slidenum">
              <a:rPr lang="en-US" sz="1000" smtClean="0">
                <a:solidFill>
                  <a:schemeClr val="tx1"/>
                </a:solidFill>
              </a:rPr>
              <a:pPr/>
              <a:t>4</a:t>
            </a:fld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D8F18E3-AE76-3DE9-B178-5432B16B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6973" y="82523"/>
            <a:ext cx="1505027" cy="105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2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982087" y="-108466"/>
            <a:ext cx="51996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634152"/>
              </p:ext>
            </p:extLst>
          </p:nvPr>
        </p:nvGraphicFramePr>
        <p:xfrm>
          <a:off x="191589" y="537867"/>
          <a:ext cx="11768183" cy="67223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38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064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2150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3048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70592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528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No.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Paper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53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</a:rPr>
                        <a:t>1.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Sharma,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Archana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Anuradha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Saxena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Ashok Kumar, and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Divyansh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Singh.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“Depression Detection using multimodal analysis with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support”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IEEE, 2024.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dataset (facial, audio, text via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approach to improve detection accuracy and chatbot to enhance user engagement.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dataset, limited generalizability, cultural bias in emotion recognition, and chatbot did not become a substitute for clinical diagnosis.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378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</a:rPr>
                        <a:t>2.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Yu,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Jiawei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Heysem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Kaya.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“Using Emotionally Rich Speech Segments for Depression Prediction.”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IEEE, 2025.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DAIC-WOZ and CMDC datasets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Leveraged emotionally rich speech segments to enhance depression prediction accuracy, achieved F1 scores of 79% on DAIC-WOZ and 90.53% on CMDC.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generalizability due to dataset constraints and potential challenges in real-world applicability.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482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</a:rPr>
                        <a:t>3.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Shukla, Devesh, Rajni Kumari, and A. Bhargavi. “Human Face Detection and Emotion Recognition Using OpenCV through AI.”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IEEE, 2024.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Likely custom or real-time webcam data is used.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Utilized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real-time face detection and emotion recognition, demonstrated effectiveness in controlled environments.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publicly available dataset, limited testing on diverse populations, and potential challenges in varying lighting conditions and facial orientations.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223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</a:rPr>
                        <a:t>4.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Nirupa, V., G. B. Renuka, B. Naga Lakshmi, C. P. Sumanth Kumar, A. Rudra Sekhar Reddy, and J. Paramesh. "Chatbot Based on Emotions Using Deep Learning." IEEE, 2023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FER 2013 (Kaggle) + Custom Dataset (2000+ images)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achieved 85%+ accuracy in emotion detection using CNN (VGG-Face), with tailored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responses and improved adaptability through hybrid training (pre-trained + fine-tuning).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study's limitations include a small custom dataset (2000 images) restricting generalization, reliance on static images without dynamic emotion tracking, and limited diversity (6 basic emotion types).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223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00">
                          <a:effectLst/>
                        </a:rPr>
                        <a:t>5.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Sharma, Akshita, Vriddhi Bajaj, and Jatin Arora. "Machine learning techniques for real-time emotion detection from facial expressions." IEEE, 2023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standard datasets like CK+, JAFFE, FER2013</a:t>
                      </a:r>
                      <a:endParaRPr lang="en-IN" sz="1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paper compares ML methods for emotion detection, with Random Forest (97.17% accuracy) performing best the and, followed by the   CNN/Eigenface (~96%).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dataset specifics; unaddressed challenges (lighting, occlusion, aging); lacks experimental validation on unified data.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364" marR="21364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290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59D63F-F67D-B1A6-9772-28B26C23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3D6590E5-092B-B1AA-996A-D7FFB60F3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19" y="1746504"/>
            <a:ext cx="10206867" cy="4352544"/>
          </a:xfrm>
        </p:spPr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To detect and analyse face.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To detect depression thoughts using facial emotions and voice assistant.</a:t>
            </a:r>
          </a:p>
          <a:p>
            <a:pPr lvl="0" algn="just">
              <a:lnSpc>
                <a:spcPct val="150000"/>
              </a:lnSpc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To provide virtual communication using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functionalities.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D573E4D-D096-DA02-6E8D-C161D57C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1463" y="6295362"/>
            <a:ext cx="683339" cy="365125"/>
          </a:xfrm>
        </p:spPr>
        <p:txBody>
          <a:bodyPr/>
          <a:lstStyle/>
          <a:p>
            <a:fld id="{75DF2D63-3FF5-D547-96B9-BE9CCD1ABA58}" type="slidenum">
              <a:rPr lang="en-US" sz="1000" smtClean="0">
                <a:solidFill>
                  <a:schemeClr val="tx1"/>
                </a:solidFill>
              </a:rPr>
              <a:pPr/>
              <a:t>6</a:t>
            </a:fld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DCC0099-86BE-A6B9-D74D-1F1621FAE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6973" y="12646"/>
            <a:ext cx="1505027" cy="105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5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AB22F0-E732-B943-B744-56ACC8E48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469846"/>
            <a:ext cx="9853749" cy="1054154"/>
          </a:xfrm>
        </p:spPr>
        <p:txBody>
          <a:bodyPr/>
          <a:lstStyle/>
          <a:p>
            <a:pPr algn="ctr"/>
            <a:r>
              <a:rPr lang="en-IN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C81EF0-14E9-18F0-CB6A-729F49ED7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371" y="1413383"/>
            <a:ext cx="10101943" cy="4835017"/>
          </a:xfrm>
        </p:spPr>
        <p:txBody>
          <a:bodyPr/>
          <a:lstStyle/>
          <a:p>
            <a:pPr lvl="0" algn="just" fontAlgn="auto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patient’s face and voice is being detected and recognized with concerned emotions to find out any depression thoughts.</a:t>
            </a:r>
          </a:p>
          <a:p>
            <a:pPr lvl="0" algn="just" fontAlgn="auto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provides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as a virtual communication which helps the patient to clear their queries.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780223B-3EA7-A955-5D35-C6C065D4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8520" y="6278880"/>
            <a:ext cx="683339" cy="365125"/>
          </a:xfrm>
        </p:spPr>
        <p:txBody>
          <a:bodyPr/>
          <a:lstStyle/>
          <a:p>
            <a:fld id="{75DF2D63-3FF5-D547-96B9-BE9CCD1ABA58}" type="slidenum">
              <a:rPr lang="en-US" sz="1000" smtClean="0">
                <a:solidFill>
                  <a:schemeClr val="tx1"/>
                </a:solidFill>
              </a:rPr>
              <a:pPr/>
              <a:t>7</a:t>
            </a:fld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598BFBD-42EF-A87C-7D60-52C808032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476" y="54021"/>
            <a:ext cx="1505027" cy="105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7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116149" y="6354870"/>
            <a:ext cx="683339" cy="365125"/>
          </a:xfrm>
        </p:spPr>
        <p:txBody>
          <a:bodyPr/>
          <a:lstStyle/>
          <a:p>
            <a:fld id="{75DF2D63-3FF5-D547-96B9-BE9CCD1ABA58}" type="slidenum">
              <a:rPr lang="en-US" sz="11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flow 2.drawi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5593" y="599677"/>
            <a:ext cx="3480317" cy="57527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39589" y="0"/>
            <a:ext cx="47026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600" dirty="0"/>
          </a:p>
        </p:txBody>
      </p:sp>
      <p:sp>
        <p:nvSpPr>
          <p:cNvPr id="5" name="Rectangle 4"/>
          <p:cNvSpPr/>
          <p:nvPr/>
        </p:nvSpPr>
        <p:spPr>
          <a:xfrm>
            <a:off x="3529661" y="6352473"/>
            <a:ext cx="389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of the project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566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449EB6-32C3-D668-A050-1D079C43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43" y="881706"/>
            <a:ext cx="9829800" cy="1222248"/>
          </a:xfrm>
        </p:spPr>
        <p:txBody>
          <a:bodyPr/>
          <a:lstStyle/>
          <a:p>
            <a:pPr algn="ctr"/>
            <a:r>
              <a:rPr lang="en-US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IN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CDD31FB9-AC3D-9A73-F5F9-540A89073D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2447" y="2226241"/>
            <a:ext cx="8782593" cy="1661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73EAAB4-39C1-A987-694A-09CACE32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2931" y="6346162"/>
            <a:ext cx="683339" cy="365125"/>
          </a:xfrm>
        </p:spPr>
        <p:txBody>
          <a:bodyPr/>
          <a:lstStyle/>
          <a:p>
            <a:fld id="{75DF2D63-3FF5-D547-96B9-BE9CCD1ABA58}" type="slidenum">
              <a:rPr lang="en-US" sz="1000" smtClean="0">
                <a:solidFill>
                  <a:schemeClr val="tx1"/>
                </a:solidFill>
              </a:rPr>
              <a:pPr/>
              <a:t>9</a:t>
            </a:fld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B24A5C6-5C14-7D81-9FAA-E079468A9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1243" y="275614"/>
            <a:ext cx="1505027" cy="1054154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173483" y="2154539"/>
            <a:ext cx="8508997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early signs of depression through facial emotion recognition, voice analysis interaction.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mental health support and suggestions in real-time using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functionalities.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Assists counsellors in triaging cases efficiently, improving access in remote areas.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18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Snapshots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88719" y="1620456"/>
            <a:ext cx="10779503" cy="447859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Figure 3: Home page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988423" y="6275042"/>
            <a:ext cx="683339" cy="365125"/>
          </a:xfrm>
        </p:spPr>
        <p:txBody>
          <a:bodyPr/>
          <a:lstStyle/>
          <a:p>
            <a:fld id="{75DF2D63-3FF5-D547-96B9-BE9CCD1ABA58}" type="slidenum">
              <a:rPr lang="en-US" sz="1000" smtClean="0">
                <a:solidFill>
                  <a:schemeClr val="tx1"/>
                </a:solidFill>
              </a:rPr>
              <a:pPr/>
              <a:t>10</a:t>
            </a:fld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77" y="2191852"/>
            <a:ext cx="5756275" cy="270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35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0618" y="185195"/>
            <a:ext cx="9837902" cy="6407194"/>
          </a:xfrm>
        </p:spPr>
        <p:txBody>
          <a:bodyPr>
            <a:normAutofit/>
          </a:bodyPr>
          <a:lstStyle/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Figure 4: Screenshot of the Dashboard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Figure 5:Facial Analysis and Speech Recognition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22103" y="6227264"/>
            <a:ext cx="683339" cy="365125"/>
          </a:xfrm>
        </p:spPr>
        <p:txBody>
          <a:bodyPr/>
          <a:lstStyle/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11</a:t>
            </a: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269" y="667364"/>
            <a:ext cx="5054600" cy="2220685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269" y="3914900"/>
            <a:ext cx="5054600" cy="204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4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1170" y="173620"/>
            <a:ext cx="9907350" cy="592542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Figure 6: Result for Facial Analysis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1463" y="6264882"/>
            <a:ext cx="683339" cy="365125"/>
          </a:xfrm>
        </p:spPr>
        <p:txBody>
          <a:bodyPr/>
          <a:lstStyle/>
          <a:p>
            <a:fld id="{75DF2D63-3FF5-D547-96B9-BE9CCD1ABA58}" type="slidenum">
              <a:rPr lang="en-US" sz="1000" smtClean="0">
                <a:solidFill>
                  <a:schemeClr val="tx1"/>
                </a:solidFill>
              </a:rPr>
              <a:pPr/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484685"/>
            <a:ext cx="4963886" cy="2119177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3535681"/>
            <a:ext cx="4963886" cy="211618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48323" y="5681247"/>
            <a:ext cx="4269374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Figure 7: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Emotion-Based Q&amp;A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66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191623" y="6305522"/>
            <a:ext cx="683339" cy="365125"/>
          </a:xfrm>
        </p:spPr>
        <p:txBody>
          <a:bodyPr/>
          <a:lstStyle/>
          <a:p>
            <a:fld id="{75DF2D63-3FF5-D547-96B9-BE9CCD1ABA58}" type="slidenum">
              <a:rPr lang="en-US" sz="1000" smtClean="0">
                <a:solidFill>
                  <a:schemeClr val="tx1"/>
                </a:solidFill>
              </a:rPr>
              <a:pPr/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8953" y="3897477"/>
            <a:ext cx="3941207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>
                <a:latin typeface="Times New Roman" pitchFamily="18" charset="0"/>
                <a:cs typeface="Times New Roman" pitchFamily="18" charset="0"/>
              </a:rPr>
              <a:t>Figure 8:</a:t>
            </a:r>
            <a:r>
              <a:rPr lang="en-IN" b="1" dirty="0"/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Predefined Q&amp;A’s</a:t>
            </a:r>
          </a:p>
          <a:p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554" y="1379202"/>
            <a:ext cx="5329646" cy="244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2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058" y="760578"/>
            <a:ext cx="9829800" cy="914400"/>
          </a:xfrm>
        </p:spPr>
        <p:txBody>
          <a:bodyPr>
            <a:normAutofit fontScale="90000"/>
          </a:bodyPr>
          <a:lstStyle/>
          <a:p>
            <a:pPr lvl="1" algn="ctr" rtl="0">
              <a:lnSpc>
                <a:spcPct val="90000"/>
              </a:lnSpc>
              <a:spcBef>
                <a:spcPct val="0"/>
              </a:spcBef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CONCLUSION</a:t>
            </a:r>
            <a:r>
              <a:rPr lang="en-IN" sz="4800" b="1" dirty="0"/>
              <a:t/>
            </a:r>
            <a:br>
              <a:rPr lang="en-IN" sz="4800" b="1" dirty="0"/>
            </a:br>
            <a:endParaRPr lang="en-IN" sz="4800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848447" y="1888400"/>
            <a:ext cx="7722273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detect depression</a:t>
            </a:r>
            <a:r>
              <a:rPr kumimoji="0" lang="en-US" sz="20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thoughts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issues early through facial expressions and voice.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instant support like meditation tips or counselling suggestions.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mental health help easier to access, especially for people in remote areas.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doctors by helping them focus on patients who need care the most.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11943" y="6336002"/>
            <a:ext cx="683339" cy="365125"/>
          </a:xfrm>
        </p:spPr>
        <p:txBody>
          <a:bodyPr/>
          <a:lstStyle/>
          <a:p>
            <a:fld id="{75DF2D63-3FF5-D547-96B9-BE9CCD1ABA58}" type="slidenum">
              <a:rPr lang="en-US" sz="1000" smtClean="0">
                <a:solidFill>
                  <a:schemeClr val="tx1"/>
                </a:solidFill>
              </a:rPr>
              <a:pPr/>
              <a:t>14</a:t>
            </a:fld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068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3675CD-19B5-C6E4-2F39-192863B4E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278675"/>
            <a:ext cx="9829800" cy="827314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BB3B0F-4683-8AE5-210F-9C7ED324C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853639"/>
            <a:ext cx="10149840" cy="5582194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Sharma,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Archana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Anuradha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Saxena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Ashok Kumar,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Divyansh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Singh. "Depression    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detection using multimodal analysis with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support." In 2024 2nd International 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Conference on Disruptive Technologies (ICDT), pp. 328-334. IEEE, 2024.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Yu,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Jiawei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Heysem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Kaya. "Using Emotionally Rich Speech Segments for Depression 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Prediction." In ICASSP 2025-2025 IEEE International Conference on Acoustics, Speech and 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Signal Processing (ICASSP), pp. 1-5. IEEE, 2025.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Shukla,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Rajni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Bhargavi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"Human Face Detection and Emotion 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Recognition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AI." In 2024 12th International Conference on Internet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of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Everything, Microwave, Embedded, Communication and Networks (IEMECON), pp. 1-5. 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IEEE, 2024.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3704547-F1AC-711A-C857-0F65B2DCF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1623" y="6244562"/>
            <a:ext cx="683339" cy="365125"/>
          </a:xfrm>
        </p:spPr>
        <p:txBody>
          <a:bodyPr/>
          <a:lstStyle/>
          <a:p>
            <a:fld id="{75DF2D63-3FF5-D547-96B9-BE9CCD1ABA58}" type="slidenum">
              <a:rPr lang="en-US" sz="1000" smtClean="0">
                <a:solidFill>
                  <a:schemeClr val="tx1"/>
                </a:solidFill>
              </a:rPr>
              <a:pPr/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63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154229" y="6264882"/>
            <a:ext cx="683339" cy="365125"/>
          </a:xfrm>
        </p:spPr>
        <p:txBody>
          <a:bodyPr/>
          <a:lstStyle/>
          <a:p>
            <a:fld id="{75DF2D63-3FF5-D547-96B9-BE9CCD1ABA58}" type="slidenum">
              <a:rPr lang="en-US" sz="1000" smtClean="0">
                <a:solidFill>
                  <a:schemeClr val="tx1"/>
                </a:solidFill>
              </a:rPr>
              <a:pPr/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10300"/>
            <a:ext cx="10468429" cy="4602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buSzPts val="1200"/>
            </a:pP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sz="2000" kern="100" dirty="0" err="1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Nirupa</a:t>
            </a: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V., G. B. </a:t>
            </a:r>
            <a:r>
              <a:rPr lang="en-IN" sz="2000" kern="100" dirty="0" err="1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Renuka</a:t>
            </a: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B. Naga Lakshmi, C. P. </a:t>
            </a:r>
            <a:r>
              <a:rPr lang="en-IN" sz="2000" kern="100" dirty="0" err="1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Sumanth</a:t>
            </a: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Kumar, A. </a:t>
            </a:r>
            <a:r>
              <a:rPr lang="en-IN" sz="2000" kern="100" dirty="0" err="1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Rudra</a:t>
            </a: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kern="100" dirty="0" err="1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Sekhar</a:t>
            </a: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Reddy, and </a:t>
            </a:r>
            <a:endParaRPr lang="en-IN" sz="2000" kern="100" dirty="0" smtClean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  <a:buSzPts val="1200"/>
            </a:pP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kern="100" dirty="0" smtClean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kern="100" dirty="0" smtClean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kern="100" dirty="0" err="1" smtClean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Paramesh</a:t>
            </a: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"</a:t>
            </a:r>
            <a:r>
              <a:rPr lang="en-IN" sz="2000" kern="100" dirty="0" err="1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Based on Emotions Using Deep Learning." In 2023 1st International </a:t>
            </a:r>
            <a:endParaRPr lang="en-IN" sz="2000" kern="100" dirty="0" smtClean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  <a:buSzPts val="1200"/>
            </a:pP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kern="100" dirty="0" smtClean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kern="100" dirty="0" smtClean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Conference </a:t>
            </a: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Optimization Techniques for Learning (ICOTL), pp. 1-5. IEEE, 2023.</a:t>
            </a:r>
            <a:endParaRPr lang="en-IN" sz="2000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  <a:spcAft>
                <a:spcPts val="0"/>
              </a:spcAft>
            </a:pPr>
            <a:r>
              <a:rPr lang="en-IN" sz="20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SzPts val="1200"/>
            </a:pPr>
            <a:r>
              <a:rPr lang="en-IN" sz="2000" kern="1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000" kern="100" dirty="0" smtClean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5] </a:t>
            </a:r>
            <a:r>
              <a:rPr lang="en-IN" sz="20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Sharma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Akshita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Vriddhi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Bajaj, and </a:t>
            </a:r>
            <a:r>
              <a:rPr lang="en-IN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Jatin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Arora. "Machine learning techniques for real-time  </a:t>
            </a:r>
            <a:r>
              <a:rPr lang="en-IN" sz="20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SzPts val="12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emotion 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from facial expressions." IEEE, </a:t>
            </a:r>
            <a:r>
              <a:rPr lang="en-IN" sz="20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2023.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  <a:buSzPts val="1200"/>
            </a:pPr>
            <a:endParaRPr lang="en-IN" sz="2000" kern="100" dirty="0">
              <a:solidFill>
                <a:srgbClr val="22222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  <a:buSzPts val="1200"/>
            </a:pPr>
            <a:endParaRPr lang="en-IN" sz="2000" kern="100" dirty="0">
              <a:solidFill>
                <a:srgbClr val="222222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  <a:buSzPts val="1200"/>
            </a:pPr>
            <a:endParaRPr lang="en-IN" sz="20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92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4644910-3BBD-D4F0-5118-785CD8F8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320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746342-5E84-430E-9251-61001F208E7A}">
  <ds:schemaRefs>
    <ds:schemaRef ds:uri="http://purl.org/dc/terms/"/>
    <ds:schemaRef ds:uri="http://schemas.microsoft.com/office/2006/documentManagement/types"/>
    <ds:schemaRef ds:uri="http://schemas.microsoft.com/sharepoint/v3"/>
    <ds:schemaRef ds:uri="16c05727-aa75-4e4a-9b5f-8a80a1165891"/>
    <ds:schemaRef ds:uri="71af3243-3dd4-4a8d-8c0d-dd76da1f02a5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E8B3377-22F1-4153-96F0-CC2E4BE41C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B2FABB-45EC-440E-B647-8CA57BA45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1277</TotalTime>
  <Words>855</Words>
  <Application>Microsoft Office PowerPoint</Application>
  <PresentationFormat>Widescreen</PresentationFormat>
  <Paragraphs>152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Posterama</vt:lpstr>
      <vt:lpstr>Times New Roman</vt:lpstr>
      <vt:lpstr>Trebuchet MS</vt:lpstr>
      <vt:lpstr>Wingdings 3</vt:lpstr>
      <vt:lpstr>Facet</vt:lpstr>
      <vt:lpstr> Project Presentation  ON  FACIAL ANALYSIS POWERED VIRTUAL HEALTHCARE  BY    </vt:lpstr>
      <vt:lpstr>CONTENTS</vt:lpstr>
      <vt:lpstr> INTRODUCTION</vt:lpstr>
      <vt:lpstr>PROBLEM STATEMENT</vt:lpstr>
      <vt:lpstr>PowerPoint Presentation</vt:lpstr>
      <vt:lpstr>OBJECTIVES</vt:lpstr>
      <vt:lpstr>METHODOLOGY</vt:lpstr>
      <vt:lpstr>PowerPoint Presentation</vt:lpstr>
      <vt:lpstr>OUTCOMES</vt:lpstr>
      <vt:lpstr>Snapshots</vt:lpstr>
      <vt:lpstr>PowerPoint Presentation</vt:lpstr>
      <vt:lpstr>PowerPoint Presentation</vt:lpstr>
      <vt:lpstr>PowerPoint Presentation</vt:lpstr>
      <vt:lpstr>CONCLUSION </vt:lpstr>
      <vt:lpstr>REFERENCES</vt:lpstr>
      <vt:lpstr>PowerPoint Presentation</vt:lpstr>
      <vt:lpstr>Thank you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Seamless shopping experience with hassle-free trolley</dc:title>
  <dc:creator>Hansika Kotian</dc:creator>
  <cp:lastModifiedBy>Admin</cp:lastModifiedBy>
  <cp:revision>86</cp:revision>
  <dcterms:created xsi:type="dcterms:W3CDTF">2024-05-29T06:09:25Z</dcterms:created>
  <dcterms:modified xsi:type="dcterms:W3CDTF">2025-05-23T13:59:57Z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